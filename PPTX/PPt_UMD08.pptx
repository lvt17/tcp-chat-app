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nton" pitchFamily="2" charset="0"/>
      <p:regular r:id="rId20"/>
    </p:embeddedFont>
    <p:embeddedFont>
      <p:font typeface="Courier Prime" panose="020B0604020202020204" charset="0"/>
      <p:regular r:id="rId21"/>
    </p:embeddedFont>
    <p:embeddedFont>
      <p:font typeface="Noto Sans Bold" panose="020B0604020202020204" charset="0"/>
      <p:regular r:id="rId22"/>
    </p:embeddedFont>
    <p:embeddedFont>
      <p:font typeface="Roboto Mono" panose="00000009000000000000" pitchFamily="49" charset="0"/>
      <p:regular r:id="rId23"/>
    </p:embeddedFont>
    <p:embeddedFont>
      <p:font typeface="Roboto Mono Bold" panose="00000009000000000000" charset="0"/>
      <p:regular r:id="rId24"/>
    </p:embeddedFont>
    <p:embeddedFont>
      <p:font typeface="Roboto Mono Medium" panose="00000009000000000000" pitchFamily="49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5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48309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4828262" y="5842908"/>
            <a:ext cx="8631475" cy="8350952"/>
          </a:xfrm>
          <a:custGeom>
            <a:avLst/>
            <a:gdLst/>
            <a:ahLst/>
            <a:cxnLst/>
            <a:rect l="l" t="t" r="r" b="b"/>
            <a:pathLst>
              <a:path w="8631475" h="8350952">
                <a:moveTo>
                  <a:pt x="0" y="0"/>
                </a:moveTo>
                <a:lnTo>
                  <a:pt x="8631476" y="0"/>
                </a:lnTo>
                <a:lnTo>
                  <a:pt x="8631476" y="8350952"/>
                </a:lnTo>
                <a:lnTo>
                  <a:pt x="0" y="8350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1890" y="1845595"/>
            <a:ext cx="17056485" cy="399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33"/>
              </a:lnSpc>
            </a:pPr>
            <a:r>
              <a:rPr lang="en-US" sz="1196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LẬP TRÌNH ỨNG DỤNG CHAT GUI VIA TCP</a:t>
            </a:r>
          </a:p>
        </p:txBody>
      </p:sp>
      <p:sp>
        <p:nvSpPr>
          <p:cNvPr id="7" name="Freeform 7"/>
          <p:cNvSpPr/>
          <p:nvPr/>
        </p:nvSpPr>
        <p:spPr>
          <a:xfrm>
            <a:off x="2358180" y="4165025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575306" y="4165025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2954766" y="4974561"/>
            <a:ext cx="3904425" cy="1520262"/>
            <a:chOff x="0" y="0"/>
            <a:chExt cx="5205900" cy="2027016"/>
          </a:xfrm>
        </p:grpSpPr>
        <p:sp>
          <p:nvSpPr>
            <p:cNvPr id="10" name="Freeform 10"/>
            <p:cNvSpPr/>
            <p:nvPr/>
          </p:nvSpPr>
          <p:spPr>
            <a:xfrm rot="-646737">
              <a:off x="57404" y="466417"/>
              <a:ext cx="5091093" cy="1094183"/>
            </a:xfrm>
            <a:custGeom>
              <a:avLst/>
              <a:gdLst/>
              <a:ahLst/>
              <a:cxnLst/>
              <a:rect l="l" t="t" r="r" b="b"/>
              <a:pathLst>
                <a:path w="5091093" h="1094183">
                  <a:moveTo>
                    <a:pt x="0" y="0"/>
                  </a:moveTo>
                  <a:lnTo>
                    <a:pt x="5091093" y="0"/>
                  </a:lnTo>
                  <a:lnTo>
                    <a:pt x="5091093" y="1094183"/>
                  </a:lnTo>
                  <a:lnTo>
                    <a:pt x="0" y="1094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4367" t="-175930" r="-8781" b="-42391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 rot="-646737">
              <a:off x="446792" y="660087"/>
              <a:ext cx="4298067" cy="631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2"/>
                </a:lnSpc>
                <a:spcBef>
                  <a:spcPct val="0"/>
                </a:spcBef>
              </a:pPr>
              <a:r>
                <a:rPr lang="en-US" sz="2770" spc="407">
                  <a:solidFill>
                    <a:srgbClr val="FFFFF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GROUP6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1165552">
            <a:off x="1170375" y="4974561"/>
            <a:ext cx="3904425" cy="1520262"/>
            <a:chOff x="0" y="0"/>
            <a:chExt cx="5205900" cy="2027016"/>
          </a:xfrm>
        </p:grpSpPr>
        <p:sp>
          <p:nvSpPr>
            <p:cNvPr id="13" name="Freeform 13"/>
            <p:cNvSpPr/>
            <p:nvPr/>
          </p:nvSpPr>
          <p:spPr>
            <a:xfrm rot="-646737">
              <a:off x="57404" y="466417"/>
              <a:ext cx="5091093" cy="1094183"/>
            </a:xfrm>
            <a:custGeom>
              <a:avLst/>
              <a:gdLst/>
              <a:ahLst/>
              <a:cxnLst/>
              <a:rect l="l" t="t" r="r" b="b"/>
              <a:pathLst>
                <a:path w="5091093" h="1094183">
                  <a:moveTo>
                    <a:pt x="0" y="0"/>
                  </a:moveTo>
                  <a:lnTo>
                    <a:pt x="5091093" y="0"/>
                  </a:lnTo>
                  <a:lnTo>
                    <a:pt x="5091093" y="1094183"/>
                  </a:lnTo>
                  <a:lnTo>
                    <a:pt x="0" y="1094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4367" t="-175930" r="-8781" b="-42391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 rot="-646737">
              <a:off x="53188" y="660087"/>
              <a:ext cx="5138951" cy="631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2"/>
                </a:lnSpc>
                <a:spcBef>
                  <a:spcPct val="0"/>
                </a:spcBef>
              </a:pPr>
              <a:r>
                <a:rPr lang="en-US" sz="2770" spc="407">
                  <a:solidFill>
                    <a:srgbClr val="FFFFF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LẬP TRÌNH MẠNG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851443" y="8565317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376042" y="7572993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858542" y="1215637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553299" y="168146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575306" y="8057777"/>
            <a:ext cx="684797" cy="684797"/>
          </a:xfrm>
          <a:custGeom>
            <a:avLst/>
            <a:gdLst/>
            <a:ahLst/>
            <a:cxnLst/>
            <a:rect l="l" t="t" r="r" b="b"/>
            <a:pathLst>
              <a:path w="684797" h="684797">
                <a:moveTo>
                  <a:pt x="0" y="0"/>
                </a:moveTo>
                <a:lnTo>
                  <a:pt x="684797" y="0"/>
                </a:lnTo>
                <a:lnTo>
                  <a:pt x="684797" y="684797"/>
                </a:lnTo>
                <a:lnTo>
                  <a:pt x="0" y="684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676458" y="3239887"/>
            <a:ext cx="14935084" cy="4389461"/>
            <a:chOff x="0" y="0"/>
            <a:chExt cx="4764165" cy="14002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64165" cy="1400201"/>
            </a:xfrm>
            <a:custGeom>
              <a:avLst/>
              <a:gdLst/>
              <a:ahLst/>
              <a:cxnLst/>
              <a:rect l="l" t="t" r="r" b="b"/>
              <a:pathLst>
                <a:path w="4764165" h="1400201">
                  <a:moveTo>
                    <a:pt x="18661" y="0"/>
                  </a:moveTo>
                  <a:lnTo>
                    <a:pt x="4745503" y="0"/>
                  </a:lnTo>
                  <a:cubicBezTo>
                    <a:pt x="4750453" y="0"/>
                    <a:pt x="4755199" y="1966"/>
                    <a:pt x="4758699" y="5466"/>
                  </a:cubicBezTo>
                  <a:cubicBezTo>
                    <a:pt x="4762198" y="8965"/>
                    <a:pt x="4764165" y="13712"/>
                    <a:pt x="4764165" y="18661"/>
                  </a:cubicBezTo>
                  <a:lnTo>
                    <a:pt x="4764165" y="1381539"/>
                  </a:lnTo>
                  <a:cubicBezTo>
                    <a:pt x="4764165" y="1386489"/>
                    <a:pt x="4762198" y="1391235"/>
                    <a:pt x="4758699" y="1394735"/>
                  </a:cubicBezTo>
                  <a:cubicBezTo>
                    <a:pt x="4755199" y="1398235"/>
                    <a:pt x="4750453" y="1400201"/>
                    <a:pt x="4745503" y="1400201"/>
                  </a:cubicBezTo>
                  <a:lnTo>
                    <a:pt x="18661" y="1400201"/>
                  </a:lnTo>
                  <a:cubicBezTo>
                    <a:pt x="13712" y="1400201"/>
                    <a:pt x="8965" y="1398235"/>
                    <a:pt x="5466" y="1394735"/>
                  </a:cubicBezTo>
                  <a:cubicBezTo>
                    <a:pt x="1966" y="1391235"/>
                    <a:pt x="0" y="1386489"/>
                    <a:pt x="0" y="1381539"/>
                  </a:cubicBezTo>
                  <a:lnTo>
                    <a:pt x="0" y="18661"/>
                  </a:lnTo>
                  <a:cubicBezTo>
                    <a:pt x="0" y="13712"/>
                    <a:pt x="1966" y="8965"/>
                    <a:pt x="5466" y="5466"/>
                  </a:cubicBezTo>
                  <a:cubicBezTo>
                    <a:pt x="8965" y="1966"/>
                    <a:pt x="13712" y="0"/>
                    <a:pt x="1866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09550"/>
              <a:ext cx="4764165" cy="1609751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l">
                <a:lnSpc>
                  <a:spcPts val="6444"/>
                </a:lnSpc>
              </a:pPr>
              <a:r>
                <a:rPr lang="en-US" sz="3600" b="1" spc="529">
                  <a:solidFill>
                    <a:srgbClr val="0000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1 - 091206006002 - LIÊU VĨNH TOÀN (LEADER) </a:t>
              </a:r>
            </a:p>
            <a:p>
              <a:pPr algn="l">
                <a:lnSpc>
                  <a:spcPts val="6444"/>
                </a:lnSpc>
              </a:pPr>
              <a:r>
                <a:rPr lang="en-US" sz="3600" b="1" spc="529">
                  <a:solidFill>
                    <a:srgbClr val="0000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2 - 079206039459 - LÂM NHẬT HUY</a:t>
              </a:r>
            </a:p>
            <a:p>
              <a:pPr algn="l">
                <a:lnSpc>
                  <a:spcPts val="6444"/>
                </a:lnSpc>
              </a:pPr>
              <a:r>
                <a:rPr lang="en-US" sz="3600" b="1" spc="529">
                  <a:solidFill>
                    <a:srgbClr val="0000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3 - 075306018569 - ĐOÀN LÊ HỒNG YẾN</a:t>
              </a:r>
            </a:p>
            <a:p>
              <a:pPr algn="l">
                <a:lnSpc>
                  <a:spcPts val="6444"/>
                </a:lnSpc>
              </a:pPr>
              <a:r>
                <a:rPr lang="en-US" sz="3600" b="1" spc="529">
                  <a:solidFill>
                    <a:srgbClr val="0000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4 - 072306007132 - NGUYỄN THẢO UYÊN</a:t>
              </a:r>
            </a:p>
            <a:p>
              <a:pPr algn="l">
                <a:lnSpc>
                  <a:spcPts val="6444"/>
                </a:lnSpc>
              </a:pPr>
              <a:r>
                <a:rPr lang="en-US" sz="3600" b="1" spc="529">
                  <a:solidFill>
                    <a:srgbClr val="00000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5 - 077206008982 - NGUYỄN QUANG VINH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61972"/>
            <a:ext cx="11890034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TABLE OF MEMBER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625" y="3404378"/>
            <a:ext cx="4993936" cy="4570381"/>
            <a:chOff x="0" y="0"/>
            <a:chExt cx="1315275" cy="1203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5275" cy="1203722"/>
            </a:xfrm>
            <a:custGeom>
              <a:avLst/>
              <a:gdLst/>
              <a:ahLst/>
              <a:cxnLst/>
              <a:rect l="l" t="t" r="r" b="b"/>
              <a:pathLst>
                <a:path w="1315275" h="1203722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147912"/>
                  </a:lnTo>
                  <a:cubicBezTo>
                    <a:pt x="1315275" y="1162714"/>
                    <a:pt x="1309396" y="1176909"/>
                    <a:pt x="1298929" y="1187376"/>
                  </a:cubicBezTo>
                  <a:cubicBezTo>
                    <a:pt x="1288463" y="1197842"/>
                    <a:pt x="1274268" y="1203722"/>
                    <a:pt x="1259466" y="1203722"/>
                  </a:cubicBezTo>
                  <a:lnTo>
                    <a:pt x="55810" y="1203722"/>
                  </a:lnTo>
                  <a:cubicBezTo>
                    <a:pt x="41008" y="1203722"/>
                    <a:pt x="26813" y="1197842"/>
                    <a:pt x="16346" y="1187376"/>
                  </a:cubicBezTo>
                  <a:cubicBezTo>
                    <a:pt x="5880" y="1176909"/>
                    <a:pt x="0" y="1162714"/>
                    <a:pt x="0" y="1147912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15275" cy="124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21290" y="3845159"/>
            <a:ext cx="4770607" cy="3787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Nhu cầu trao đổi thông tin thời gian thực ngày càng phổ biến</a:t>
            </a:r>
          </a:p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Ứng dụng chat được sử dụng rộng rải trong học tập</a:t>
            </a:r>
          </a:p>
          <a:p>
            <a:pPr marL="0" lvl="0" indent="0" algn="ctr">
              <a:lnSpc>
                <a:spcPts val="3822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6647032" y="3404378"/>
            <a:ext cx="4993936" cy="4570381"/>
            <a:chOff x="0" y="0"/>
            <a:chExt cx="1315275" cy="12037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15275" cy="1203722"/>
            </a:xfrm>
            <a:custGeom>
              <a:avLst/>
              <a:gdLst/>
              <a:ahLst/>
              <a:cxnLst/>
              <a:rect l="l" t="t" r="r" b="b"/>
              <a:pathLst>
                <a:path w="1315275" h="1203722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147912"/>
                  </a:lnTo>
                  <a:cubicBezTo>
                    <a:pt x="1315275" y="1162714"/>
                    <a:pt x="1309396" y="1176909"/>
                    <a:pt x="1298929" y="1187376"/>
                  </a:cubicBezTo>
                  <a:cubicBezTo>
                    <a:pt x="1288463" y="1197842"/>
                    <a:pt x="1274268" y="1203722"/>
                    <a:pt x="1259466" y="1203722"/>
                  </a:cubicBezTo>
                  <a:lnTo>
                    <a:pt x="55810" y="1203722"/>
                  </a:lnTo>
                  <a:cubicBezTo>
                    <a:pt x="41008" y="1203722"/>
                    <a:pt x="26813" y="1197842"/>
                    <a:pt x="16346" y="1187376"/>
                  </a:cubicBezTo>
                  <a:cubicBezTo>
                    <a:pt x="5880" y="1176909"/>
                    <a:pt x="0" y="1162714"/>
                    <a:pt x="0" y="1147912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15275" cy="124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484439" y="3404378"/>
            <a:ext cx="4993936" cy="4570381"/>
            <a:chOff x="0" y="0"/>
            <a:chExt cx="1315275" cy="1203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5275" cy="1203722"/>
            </a:xfrm>
            <a:custGeom>
              <a:avLst/>
              <a:gdLst/>
              <a:ahLst/>
              <a:cxnLst/>
              <a:rect l="l" t="t" r="r" b="b"/>
              <a:pathLst>
                <a:path w="1315275" h="1203722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147912"/>
                  </a:lnTo>
                  <a:cubicBezTo>
                    <a:pt x="1315275" y="1162714"/>
                    <a:pt x="1309396" y="1176909"/>
                    <a:pt x="1298929" y="1187376"/>
                  </a:cubicBezTo>
                  <a:cubicBezTo>
                    <a:pt x="1288463" y="1197842"/>
                    <a:pt x="1274268" y="1203722"/>
                    <a:pt x="1259466" y="1203722"/>
                  </a:cubicBezTo>
                  <a:lnTo>
                    <a:pt x="55810" y="1203722"/>
                  </a:lnTo>
                  <a:cubicBezTo>
                    <a:pt x="41008" y="1203722"/>
                    <a:pt x="26813" y="1197842"/>
                    <a:pt x="16346" y="1187376"/>
                  </a:cubicBezTo>
                  <a:cubicBezTo>
                    <a:pt x="5880" y="1176909"/>
                    <a:pt x="0" y="1162714"/>
                    <a:pt x="0" y="1147912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15275" cy="124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44165" y="1374852"/>
            <a:ext cx="13999670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LÝ DO CHỌN ĐỀ TÀI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47032" y="3845159"/>
            <a:ext cx="4770607" cy="3787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Đề tài nhằm xây dựng rộng rãi trong học tập, làm việc và giao tiếp</a:t>
            </a:r>
          </a:p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Sử dụng giao thức TCP để đảm bảo ổn định và tin cậy</a:t>
            </a:r>
          </a:p>
          <a:p>
            <a:pPr marL="0" lvl="0" indent="0" algn="ctr">
              <a:lnSpc>
                <a:spcPts val="3822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21675" y="3762470"/>
            <a:ext cx="4770607" cy="3787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Hỗ TRợ Nhiều người dùng, chat công khai và riêng tư, lưu lịch sử</a:t>
            </a:r>
          </a:p>
          <a:p>
            <a:pPr marL="561341" lvl="1" indent="-280670" algn="l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Giúp vận dụng kiến thức: socket,đa luồng,GUI,cơ sở dữ liệu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99898" y="-637876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954508" y="254126"/>
            <a:ext cx="9711403" cy="9727149"/>
            <a:chOff x="0" y="0"/>
            <a:chExt cx="2852282" cy="28569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52282" cy="2856906"/>
            </a:xfrm>
            <a:custGeom>
              <a:avLst/>
              <a:gdLst/>
              <a:ahLst/>
              <a:cxnLst/>
              <a:rect l="l" t="t" r="r" b="b"/>
              <a:pathLst>
                <a:path w="2852282" h="2856906">
                  <a:moveTo>
                    <a:pt x="28699" y="0"/>
                  </a:moveTo>
                  <a:lnTo>
                    <a:pt x="2823583" y="0"/>
                  </a:lnTo>
                  <a:cubicBezTo>
                    <a:pt x="2831194" y="0"/>
                    <a:pt x="2838494" y="3024"/>
                    <a:pt x="2843876" y="8406"/>
                  </a:cubicBezTo>
                  <a:cubicBezTo>
                    <a:pt x="2849258" y="13788"/>
                    <a:pt x="2852282" y="21088"/>
                    <a:pt x="2852282" y="28699"/>
                  </a:cubicBezTo>
                  <a:lnTo>
                    <a:pt x="2852282" y="2828207"/>
                  </a:lnTo>
                  <a:cubicBezTo>
                    <a:pt x="2852282" y="2835819"/>
                    <a:pt x="2849258" y="2843119"/>
                    <a:pt x="2843876" y="2848501"/>
                  </a:cubicBezTo>
                  <a:cubicBezTo>
                    <a:pt x="2838494" y="2853883"/>
                    <a:pt x="2831194" y="2856906"/>
                    <a:pt x="2823583" y="2856906"/>
                  </a:cubicBezTo>
                  <a:lnTo>
                    <a:pt x="28699" y="2856906"/>
                  </a:lnTo>
                  <a:cubicBezTo>
                    <a:pt x="21088" y="2856906"/>
                    <a:pt x="13788" y="2853883"/>
                    <a:pt x="8406" y="2848501"/>
                  </a:cubicBezTo>
                  <a:cubicBezTo>
                    <a:pt x="3024" y="2843119"/>
                    <a:pt x="0" y="2835819"/>
                    <a:pt x="0" y="2828207"/>
                  </a:cubicBezTo>
                  <a:lnTo>
                    <a:pt x="0" y="28699"/>
                  </a:lnTo>
                  <a:cubicBezTo>
                    <a:pt x="0" y="21088"/>
                    <a:pt x="3024" y="13788"/>
                    <a:pt x="8406" y="8406"/>
                  </a:cubicBezTo>
                  <a:cubicBezTo>
                    <a:pt x="13788" y="3024"/>
                    <a:pt x="21088" y="0"/>
                    <a:pt x="2869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52282" cy="2895007"/>
            </a:xfrm>
            <a:prstGeom prst="rect">
              <a:avLst/>
            </a:prstGeom>
          </p:spPr>
          <p:txBody>
            <a:bodyPr lIns="55174" tIns="55174" rIns="55174" bIns="55174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643467" y="2335044"/>
            <a:ext cx="500533" cy="459581"/>
          </a:xfrm>
          <a:custGeom>
            <a:avLst/>
            <a:gdLst/>
            <a:ahLst/>
            <a:cxnLst/>
            <a:rect l="l" t="t" r="r" b="b"/>
            <a:pathLst>
              <a:path w="500533" h="459581">
                <a:moveTo>
                  <a:pt x="0" y="0"/>
                </a:moveTo>
                <a:lnTo>
                  <a:pt x="500533" y="0"/>
                </a:lnTo>
                <a:lnTo>
                  <a:pt x="500533" y="459581"/>
                </a:lnTo>
                <a:lnTo>
                  <a:pt x="0" y="4595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439816" y="430237"/>
            <a:ext cx="4562597" cy="45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CHỨC NĂNG CHÍNH: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98743" y="962025"/>
            <a:ext cx="7081528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Thiết lập kết nối truyền dữ liệu bằng giao thức TCP.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8743" y="2066486"/>
            <a:ext cx="6214577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Cho phép nhiều người dùng kết nối đồng thời đến máy chủ.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62466" y="3167957"/>
            <a:ext cx="6087132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Hỗ trợ chức năng đăng nhập bằng tên người dùng.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32093" y="8716475"/>
            <a:ext cx="6827477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Thực hiện gửi và nhận tin nhắn công khai</a:t>
            </a:r>
          </a:p>
        </p:txBody>
      </p:sp>
      <p:sp>
        <p:nvSpPr>
          <p:cNvPr id="14" name="Freeform 14"/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34852" y="1455261"/>
            <a:ext cx="6547114" cy="292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48"/>
              </a:lnSpc>
            </a:pPr>
            <a:r>
              <a:rPr lang="en-US" sz="839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MỤC TIÊU CỦA HỆ THỐNG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1468" y="5019353"/>
            <a:ext cx="6197568" cy="2358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Xây dựng hệ thống chat có giao diện thân thiện, hoạt động ổn định trên TCP</a:t>
            </a:r>
          </a:p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Áp dụng mô hình Client – Server</a:t>
            </a:r>
          </a:p>
        </p:txBody>
      </p:sp>
      <p:sp>
        <p:nvSpPr>
          <p:cNvPr id="17" name="Freeform 17"/>
          <p:cNvSpPr/>
          <p:nvPr/>
        </p:nvSpPr>
        <p:spPr>
          <a:xfrm>
            <a:off x="8675308" y="1259819"/>
            <a:ext cx="436851" cy="401109"/>
          </a:xfrm>
          <a:custGeom>
            <a:avLst/>
            <a:gdLst/>
            <a:ahLst/>
            <a:cxnLst/>
            <a:rect l="l" t="t" r="r" b="b"/>
            <a:pathLst>
              <a:path w="436851" h="401109">
                <a:moveTo>
                  <a:pt x="0" y="0"/>
                </a:moveTo>
                <a:lnTo>
                  <a:pt x="436851" y="0"/>
                </a:lnTo>
                <a:lnTo>
                  <a:pt x="436851" y="401108"/>
                </a:lnTo>
                <a:lnTo>
                  <a:pt x="0" y="40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840499" y="6697026"/>
            <a:ext cx="436851" cy="401109"/>
          </a:xfrm>
          <a:custGeom>
            <a:avLst/>
            <a:gdLst/>
            <a:ahLst/>
            <a:cxnLst/>
            <a:rect l="l" t="t" r="r" b="b"/>
            <a:pathLst>
              <a:path w="436851" h="401109">
                <a:moveTo>
                  <a:pt x="0" y="0"/>
                </a:moveTo>
                <a:lnTo>
                  <a:pt x="436851" y="0"/>
                </a:lnTo>
                <a:lnTo>
                  <a:pt x="436851" y="401109"/>
                </a:lnTo>
                <a:lnTo>
                  <a:pt x="0" y="40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808658" y="5659168"/>
            <a:ext cx="436851" cy="401109"/>
          </a:xfrm>
          <a:custGeom>
            <a:avLst/>
            <a:gdLst/>
            <a:ahLst/>
            <a:cxnLst/>
            <a:rect l="l" t="t" r="r" b="b"/>
            <a:pathLst>
              <a:path w="436851" h="401109">
                <a:moveTo>
                  <a:pt x="0" y="0"/>
                </a:moveTo>
                <a:lnTo>
                  <a:pt x="436851" y="0"/>
                </a:lnTo>
                <a:lnTo>
                  <a:pt x="436851" y="401108"/>
                </a:lnTo>
                <a:lnTo>
                  <a:pt x="0" y="40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707149" y="3449707"/>
            <a:ext cx="436851" cy="401109"/>
          </a:xfrm>
          <a:custGeom>
            <a:avLst/>
            <a:gdLst/>
            <a:ahLst/>
            <a:cxnLst/>
            <a:rect l="l" t="t" r="r" b="b"/>
            <a:pathLst>
              <a:path w="436851" h="401109">
                <a:moveTo>
                  <a:pt x="0" y="0"/>
                </a:moveTo>
                <a:lnTo>
                  <a:pt x="436851" y="0"/>
                </a:lnTo>
                <a:lnTo>
                  <a:pt x="436851" y="401108"/>
                </a:lnTo>
                <a:lnTo>
                  <a:pt x="0" y="40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432093" y="6399233"/>
            <a:ext cx="5387602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Hiển thị danh sách người dùng đang trực tuyến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02795" y="5361374"/>
            <a:ext cx="5387602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Hỗ trợ gửi tin nhắn riêng tư giữa các người dùng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02795" y="7557854"/>
            <a:ext cx="6827477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Tự động tải lại các tin nhắn gần nhất khi người dùng mới tham gia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86788" y="4269428"/>
            <a:ext cx="6150854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Lưu trữ lịch sử tin nhắn bằng SQLite</a:t>
            </a:r>
          </a:p>
        </p:txBody>
      </p:sp>
      <p:sp>
        <p:nvSpPr>
          <p:cNvPr id="25" name="Freeform 25"/>
          <p:cNvSpPr/>
          <p:nvPr/>
        </p:nvSpPr>
        <p:spPr>
          <a:xfrm>
            <a:off x="8707149" y="4544651"/>
            <a:ext cx="436851" cy="401109"/>
          </a:xfrm>
          <a:custGeom>
            <a:avLst/>
            <a:gdLst/>
            <a:ahLst/>
            <a:cxnLst/>
            <a:rect l="l" t="t" r="r" b="b"/>
            <a:pathLst>
              <a:path w="436851" h="401109">
                <a:moveTo>
                  <a:pt x="0" y="0"/>
                </a:moveTo>
                <a:lnTo>
                  <a:pt x="436851" y="0"/>
                </a:lnTo>
                <a:lnTo>
                  <a:pt x="436851" y="401108"/>
                </a:lnTo>
                <a:lnTo>
                  <a:pt x="0" y="40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776817" y="7855647"/>
            <a:ext cx="436851" cy="401109"/>
          </a:xfrm>
          <a:custGeom>
            <a:avLst/>
            <a:gdLst/>
            <a:ahLst/>
            <a:cxnLst/>
            <a:rect l="l" t="t" r="r" b="b"/>
            <a:pathLst>
              <a:path w="436851" h="401109">
                <a:moveTo>
                  <a:pt x="0" y="0"/>
                </a:moveTo>
                <a:lnTo>
                  <a:pt x="436851" y="0"/>
                </a:lnTo>
                <a:lnTo>
                  <a:pt x="436851" y="401109"/>
                </a:lnTo>
                <a:lnTo>
                  <a:pt x="0" y="40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840499" y="9053460"/>
            <a:ext cx="436851" cy="401109"/>
          </a:xfrm>
          <a:custGeom>
            <a:avLst/>
            <a:gdLst/>
            <a:ahLst/>
            <a:cxnLst/>
            <a:rect l="l" t="t" r="r" b="b"/>
            <a:pathLst>
              <a:path w="436851" h="401109">
                <a:moveTo>
                  <a:pt x="0" y="0"/>
                </a:moveTo>
                <a:lnTo>
                  <a:pt x="436851" y="0"/>
                </a:lnTo>
                <a:lnTo>
                  <a:pt x="436851" y="401109"/>
                </a:lnTo>
                <a:lnTo>
                  <a:pt x="0" y="40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48377" y="2042894"/>
            <a:ext cx="7582418" cy="3100606"/>
            <a:chOff x="0" y="0"/>
            <a:chExt cx="1997015" cy="8166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7015" cy="816621"/>
            </a:xfrm>
            <a:custGeom>
              <a:avLst/>
              <a:gdLst/>
              <a:ahLst/>
              <a:cxnLst/>
              <a:rect l="l" t="t" r="r" b="b"/>
              <a:pathLst>
                <a:path w="1997015" h="816621">
                  <a:moveTo>
                    <a:pt x="36757" y="0"/>
                  </a:moveTo>
                  <a:lnTo>
                    <a:pt x="1960258" y="0"/>
                  </a:lnTo>
                  <a:cubicBezTo>
                    <a:pt x="1980559" y="0"/>
                    <a:pt x="1997015" y="16457"/>
                    <a:pt x="1997015" y="36757"/>
                  </a:cubicBezTo>
                  <a:lnTo>
                    <a:pt x="1997015" y="779863"/>
                  </a:lnTo>
                  <a:cubicBezTo>
                    <a:pt x="1997015" y="789612"/>
                    <a:pt x="1993143" y="798961"/>
                    <a:pt x="1986249" y="805855"/>
                  </a:cubicBezTo>
                  <a:cubicBezTo>
                    <a:pt x="1979356" y="812748"/>
                    <a:pt x="1970007" y="816621"/>
                    <a:pt x="1960258" y="816621"/>
                  </a:cubicBezTo>
                  <a:lnTo>
                    <a:pt x="36757" y="816621"/>
                  </a:lnTo>
                  <a:cubicBezTo>
                    <a:pt x="16457" y="816621"/>
                    <a:pt x="0" y="800164"/>
                    <a:pt x="0" y="779863"/>
                  </a:cubicBezTo>
                  <a:lnTo>
                    <a:pt x="0" y="36757"/>
                  </a:lnTo>
                  <a:cubicBezTo>
                    <a:pt x="0" y="16457"/>
                    <a:pt x="16457" y="0"/>
                    <a:pt x="367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97015" cy="854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09624" y="2042894"/>
            <a:ext cx="6649676" cy="3257444"/>
            <a:chOff x="0" y="0"/>
            <a:chExt cx="1751355" cy="8579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1355" cy="857928"/>
            </a:xfrm>
            <a:custGeom>
              <a:avLst/>
              <a:gdLst/>
              <a:ahLst/>
              <a:cxnLst/>
              <a:rect l="l" t="t" r="r" b="b"/>
              <a:pathLst>
                <a:path w="1751355" h="857928">
                  <a:moveTo>
                    <a:pt x="41913" y="0"/>
                  </a:moveTo>
                  <a:lnTo>
                    <a:pt x="1709442" y="0"/>
                  </a:lnTo>
                  <a:cubicBezTo>
                    <a:pt x="1732590" y="0"/>
                    <a:pt x="1751355" y="18765"/>
                    <a:pt x="1751355" y="41913"/>
                  </a:cubicBezTo>
                  <a:lnTo>
                    <a:pt x="1751355" y="816014"/>
                  </a:lnTo>
                  <a:cubicBezTo>
                    <a:pt x="1751355" y="827131"/>
                    <a:pt x="1746939" y="837791"/>
                    <a:pt x="1739079" y="845652"/>
                  </a:cubicBezTo>
                  <a:cubicBezTo>
                    <a:pt x="1731219" y="853512"/>
                    <a:pt x="1720558" y="857928"/>
                    <a:pt x="1709442" y="857928"/>
                  </a:cubicBezTo>
                  <a:lnTo>
                    <a:pt x="41913" y="857928"/>
                  </a:lnTo>
                  <a:cubicBezTo>
                    <a:pt x="18765" y="857928"/>
                    <a:pt x="0" y="839163"/>
                    <a:pt x="0" y="816014"/>
                  </a:cubicBezTo>
                  <a:lnTo>
                    <a:pt x="0" y="41913"/>
                  </a:lnTo>
                  <a:cubicBezTo>
                    <a:pt x="0" y="18765"/>
                    <a:pt x="18765" y="0"/>
                    <a:pt x="419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51355" cy="89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09624" y="5810822"/>
            <a:ext cx="6649676" cy="2943768"/>
            <a:chOff x="0" y="0"/>
            <a:chExt cx="1751355" cy="7753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51355" cy="775313"/>
            </a:xfrm>
            <a:custGeom>
              <a:avLst/>
              <a:gdLst/>
              <a:ahLst/>
              <a:cxnLst/>
              <a:rect l="l" t="t" r="r" b="b"/>
              <a:pathLst>
                <a:path w="1751355" h="775313">
                  <a:moveTo>
                    <a:pt x="41913" y="0"/>
                  </a:moveTo>
                  <a:lnTo>
                    <a:pt x="1709442" y="0"/>
                  </a:lnTo>
                  <a:cubicBezTo>
                    <a:pt x="1732590" y="0"/>
                    <a:pt x="1751355" y="18765"/>
                    <a:pt x="1751355" y="41913"/>
                  </a:cubicBezTo>
                  <a:lnTo>
                    <a:pt x="1751355" y="733400"/>
                  </a:lnTo>
                  <a:cubicBezTo>
                    <a:pt x="1751355" y="756548"/>
                    <a:pt x="1732590" y="775313"/>
                    <a:pt x="1709442" y="775313"/>
                  </a:cubicBezTo>
                  <a:lnTo>
                    <a:pt x="41913" y="775313"/>
                  </a:lnTo>
                  <a:cubicBezTo>
                    <a:pt x="30797" y="775313"/>
                    <a:pt x="20136" y="770898"/>
                    <a:pt x="12276" y="763037"/>
                  </a:cubicBezTo>
                  <a:cubicBezTo>
                    <a:pt x="4416" y="755177"/>
                    <a:pt x="0" y="744516"/>
                    <a:pt x="0" y="733400"/>
                  </a:cubicBezTo>
                  <a:lnTo>
                    <a:pt x="0" y="41913"/>
                  </a:lnTo>
                  <a:cubicBezTo>
                    <a:pt x="0" y="18765"/>
                    <a:pt x="18765" y="0"/>
                    <a:pt x="419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51355" cy="81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49938" y="541687"/>
            <a:ext cx="13999670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CÔNG NGHỆ SỬ DỤNG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48377" y="5810822"/>
            <a:ext cx="7582418" cy="2989600"/>
            <a:chOff x="0" y="0"/>
            <a:chExt cx="1997015" cy="7873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7015" cy="787384"/>
            </a:xfrm>
            <a:custGeom>
              <a:avLst/>
              <a:gdLst/>
              <a:ahLst/>
              <a:cxnLst/>
              <a:rect l="l" t="t" r="r" b="b"/>
              <a:pathLst>
                <a:path w="1997015" h="787384">
                  <a:moveTo>
                    <a:pt x="36757" y="0"/>
                  </a:moveTo>
                  <a:lnTo>
                    <a:pt x="1960258" y="0"/>
                  </a:lnTo>
                  <a:cubicBezTo>
                    <a:pt x="1980559" y="0"/>
                    <a:pt x="1997015" y="16457"/>
                    <a:pt x="1997015" y="36757"/>
                  </a:cubicBezTo>
                  <a:lnTo>
                    <a:pt x="1997015" y="750627"/>
                  </a:lnTo>
                  <a:cubicBezTo>
                    <a:pt x="1997015" y="760376"/>
                    <a:pt x="1993143" y="769725"/>
                    <a:pt x="1986249" y="776619"/>
                  </a:cubicBezTo>
                  <a:cubicBezTo>
                    <a:pt x="1979356" y="783512"/>
                    <a:pt x="1970007" y="787384"/>
                    <a:pt x="1960258" y="787384"/>
                  </a:cubicBezTo>
                  <a:lnTo>
                    <a:pt x="36757" y="787384"/>
                  </a:lnTo>
                  <a:cubicBezTo>
                    <a:pt x="16457" y="787384"/>
                    <a:pt x="0" y="770928"/>
                    <a:pt x="0" y="750627"/>
                  </a:cubicBezTo>
                  <a:lnTo>
                    <a:pt x="0" y="36757"/>
                  </a:lnTo>
                  <a:cubicBezTo>
                    <a:pt x="0" y="16457"/>
                    <a:pt x="16457" y="0"/>
                    <a:pt x="367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97015" cy="825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690252" y="2419466"/>
            <a:ext cx="277971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NGÔN NGỮ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56041" y="6086475"/>
            <a:ext cx="277971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TRUYỀN THÔNG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68473" y="6086475"/>
            <a:ext cx="3331979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LƯU TRỮ &amp; QUẢN LÝ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4605" y="2419466"/>
            <a:ext cx="277971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GIAO DIỆN &amp; XỬ LÝ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7996" y="3002994"/>
            <a:ext cx="5772749" cy="1406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Python – dễ học, nhiều thư viện, phù hợp lập trình mạng &amp; GUI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7996" y="6579863"/>
            <a:ext cx="8640275" cy="188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TCP – đảm bảo:</a:t>
            </a:r>
          </a:p>
          <a:p>
            <a:pPr algn="l">
              <a:lnSpc>
                <a:spcPts val="3822"/>
              </a:lnSpc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+Truyền dữ liệu ổn định, chính xác</a:t>
            </a:r>
          </a:p>
          <a:p>
            <a:pPr algn="l">
              <a:lnSpc>
                <a:spcPts val="3822"/>
              </a:lnSpc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+Không mất gói, đúng thứ tự</a:t>
            </a:r>
          </a:p>
          <a:p>
            <a:pPr algn="l">
              <a:lnSpc>
                <a:spcPts val="3822"/>
              </a:lnSpc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+Có cơ chế kiểm tra lỗi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35678" y="2957302"/>
            <a:ext cx="6197568" cy="188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Custom Tkinter – giao diện hiện đại, dễ dùng</a:t>
            </a:r>
          </a:p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Threading – xử lý đa luồng, nhiều user, tránh treo app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35678" y="6718300"/>
            <a:ext cx="6197568" cy="1406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SQLite – lưu lịch sử chat</a:t>
            </a:r>
          </a:p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Git &amp; GitHub – quản lý code, làm việc nhóm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08526" y="3339981"/>
            <a:ext cx="11131332" cy="6215692"/>
          </a:xfrm>
          <a:custGeom>
            <a:avLst/>
            <a:gdLst/>
            <a:ahLst/>
            <a:cxnLst/>
            <a:rect l="l" t="t" r="r" b="b"/>
            <a:pathLst>
              <a:path w="11131332" h="6215692">
                <a:moveTo>
                  <a:pt x="0" y="0"/>
                </a:moveTo>
                <a:lnTo>
                  <a:pt x="11131332" y="0"/>
                </a:lnTo>
                <a:lnTo>
                  <a:pt x="11131332" y="6215692"/>
                </a:lnTo>
                <a:lnTo>
                  <a:pt x="0" y="62156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52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09625" y="2152963"/>
            <a:ext cx="6547114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1.SƠ ĐỒ KIẾN TRÚC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9625" y="773985"/>
            <a:ext cx="4018637" cy="25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6"/>
              </a:lnSpc>
              <a:spcBef>
                <a:spcPct val="0"/>
              </a:spcBef>
            </a:pPr>
            <a:r>
              <a:rPr lang="en-US" sz="1439" b="1" u="none" strike="noStrike" spc="211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@REALLYGREATSITE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85006" y="548040"/>
            <a:ext cx="8748299" cy="111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75"/>
              </a:lnSpc>
            </a:pPr>
            <a:r>
              <a:rPr lang="en-US" sz="839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PHẠM VI NGHIÊN CỨU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498883" y="1799455"/>
            <a:ext cx="13031160" cy="8012731"/>
            <a:chOff x="0" y="0"/>
            <a:chExt cx="1686900" cy="10372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6900" cy="1037258"/>
            </a:xfrm>
            <a:custGeom>
              <a:avLst/>
              <a:gdLst/>
              <a:ahLst/>
              <a:cxnLst/>
              <a:rect l="l" t="t" r="r" b="b"/>
              <a:pathLst>
                <a:path w="1686900" h="1037258">
                  <a:moveTo>
                    <a:pt x="13664" y="0"/>
                  </a:moveTo>
                  <a:lnTo>
                    <a:pt x="1673236" y="0"/>
                  </a:lnTo>
                  <a:cubicBezTo>
                    <a:pt x="1676860" y="0"/>
                    <a:pt x="1680335" y="1440"/>
                    <a:pt x="1682898" y="4002"/>
                  </a:cubicBezTo>
                  <a:cubicBezTo>
                    <a:pt x="1685461" y="6565"/>
                    <a:pt x="1686900" y="10040"/>
                    <a:pt x="1686900" y="13664"/>
                  </a:cubicBezTo>
                  <a:lnTo>
                    <a:pt x="1686900" y="1023594"/>
                  </a:lnTo>
                  <a:cubicBezTo>
                    <a:pt x="1686900" y="1031140"/>
                    <a:pt x="1680782" y="1037258"/>
                    <a:pt x="1673236" y="1037258"/>
                  </a:cubicBezTo>
                  <a:lnTo>
                    <a:pt x="13664" y="1037258"/>
                  </a:lnTo>
                  <a:cubicBezTo>
                    <a:pt x="6118" y="1037258"/>
                    <a:pt x="0" y="1031140"/>
                    <a:pt x="0" y="1023594"/>
                  </a:cubicBezTo>
                  <a:lnTo>
                    <a:pt x="0" y="13664"/>
                  </a:lnTo>
                  <a:cubicBezTo>
                    <a:pt x="0" y="6118"/>
                    <a:pt x="6118" y="0"/>
                    <a:pt x="13664" y="0"/>
                  </a:cubicBezTo>
                  <a:close/>
                </a:path>
              </a:pathLst>
            </a:custGeom>
            <a:blipFill>
              <a:blip r:embed="rId6"/>
              <a:stretch>
                <a:fillRect l="-195" r="-19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498883" y="447675"/>
            <a:ext cx="664511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2.THÀNH PHẦN CLIENT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94693" y="3210343"/>
            <a:ext cx="17698613" cy="6797562"/>
            <a:chOff x="0" y="0"/>
            <a:chExt cx="2741978" cy="1053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1978" cy="1053120"/>
            </a:xfrm>
            <a:custGeom>
              <a:avLst/>
              <a:gdLst/>
              <a:ahLst/>
              <a:cxnLst/>
              <a:rect l="l" t="t" r="r" b="b"/>
              <a:pathLst>
                <a:path w="2741978" h="1053120">
                  <a:moveTo>
                    <a:pt x="10061" y="0"/>
                  </a:moveTo>
                  <a:lnTo>
                    <a:pt x="2731918" y="0"/>
                  </a:lnTo>
                  <a:cubicBezTo>
                    <a:pt x="2737474" y="0"/>
                    <a:pt x="2741978" y="4504"/>
                    <a:pt x="2741978" y="10061"/>
                  </a:cubicBezTo>
                  <a:lnTo>
                    <a:pt x="2741978" y="1043059"/>
                  </a:lnTo>
                  <a:cubicBezTo>
                    <a:pt x="2741978" y="1045728"/>
                    <a:pt x="2740918" y="1048287"/>
                    <a:pt x="2739032" y="1050173"/>
                  </a:cubicBezTo>
                  <a:cubicBezTo>
                    <a:pt x="2737145" y="1052060"/>
                    <a:pt x="2734586" y="1053120"/>
                    <a:pt x="2731918" y="1053120"/>
                  </a:cubicBezTo>
                  <a:lnTo>
                    <a:pt x="10061" y="1053120"/>
                  </a:lnTo>
                  <a:cubicBezTo>
                    <a:pt x="7393" y="1053120"/>
                    <a:pt x="4834" y="1052060"/>
                    <a:pt x="2947" y="1050173"/>
                  </a:cubicBezTo>
                  <a:cubicBezTo>
                    <a:pt x="1060" y="1048287"/>
                    <a:pt x="0" y="1045728"/>
                    <a:pt x="0" y="1043059"/>
                  </a:cubicBezTo>
                  <a:lnTo>
                    <a:pt x="0" y="10061"/>
                  </a:lnTo>
                  <a:cubicBezTo>
                    <a:pt x="0" y="4504"/>
                    <a:pt x="4504" y="0"/>
                    <a:pt x="10061" y="0"/>
                  </a:cubicBezTo>
                  <a:close/>
                </a:path>
              </a:pathLst>
            </a:custGeom>
            <a:blipFill>
              <a:blip r:embed="rId6"/>
              <a:stretch>
                <a:fillRect l="-1039" r="-103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498883" y="447675"/>
            <a:ext cx="664511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3.THÀNH PHẦN SERVER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9625" y="1849774"/>
            <a:ext cx="12782257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82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Mỗi client khi kết nối sẽ được server tạo một luồng riêng để xử lý, giúp hệ thống phục vụ nhiều người dùng cùng lúc.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38086" y="2693452"/>
            <a:ext cx="4353403" cy="6961358"/>
          </a:xfrm>
          <a:custGeom>
            <a:avLst/>
            <a:gdLst/>
            <a:ahLst/>
            <a:cxnLst/>
            <a:rect l="l" t="t" r="r" b="b"/>
            <a:pathLst>
              <a:path w="4353403" h="6961358">
                <a:moveTo>
                  <a:pt x="0" y="0"/>
                </a:moveTo>
                <a:lnTo>
                  <a:pt x="4353403" y="0"/>
                </a:lnTo>
                <a:lnTo>
                  <a:pt x="4353403" y="6961357"/>
                </a:lnTo>
                <a:lnTo>
                  <a:pt x="0" y="69613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81" r="-6081" b="-49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41717" y="2693452"/>
            <a:ext cx="4010526" cy="6961358"/>
          </a:xfrm>
          <a:custGeom>
            <a:avLst/>
            <a:gdLst/>
            <a:ahLst/>
            <a:cxnLst/>
            <a:rect l="l" t="t" r="r" b="b"/>
            <a:pathLst>
              <a:path w="4010526" h="6961358">
                <a:moveTo>
                  <a:pt x="0" y="0"/>
                </a:moveTo>
                <a:lnTo>
                  <a:pt x="4010526" y="0"/>
                </a:lnTo>
                <a:lnTo>
                  <a:pt x="4010526" y="6961357"/>
                </a:lnTo>
                <a:lnTo>
                  <a:pt x="0" y="69613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189" r="-248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70576" y="1133475"/>
            <a:ext cx="12146848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0" lvl="1" indent="-647700" algn="l">
              <a:lnSpc>
                <a:spcPts val="6060"/>
              </a:lnSpc>
              <a:buAutoNum type="arabicPeriod"/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CẤU TRÚC THƯ MỤC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2606" y="-423566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91630" y="2085975"/>
          <a:ext cx="16704740" cy="7429500"/>
        </p:xfrm>
        <a:graphic>
          <a:graphicData uri="http://schemas.openxmlformats.org/drawingml/2006/table">
            <a:tbl>
              <a:tblPr/>
              <a:tblGrid>
                <a:gridCol w="243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428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Tiêu chí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TCP (Transmission Control Protocol)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UDP (User Datagram Protocol)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42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Tên đầy đủ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Giao thức điều khiển truyền vận.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Giao thức gói dữ liệu người dùng.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228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Hình thức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Có kết nối (Connection-oriented): Phải thiết lập kết nối (bắt tay 3 bước) trước khi truyền dữ liệu.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Không kết nối (Connectionless): Dữ liệu được gửi đi ngay lập tức mà không cần thiết lập kết nối trước.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804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Luồng dữ liệu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Dữ liệu được truyền dưới dạng một luồng byte (Byte stream).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Dữ liệu được truyền dưới dạng các gói rời rạc (Datagram).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804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Ứng dụng phổ biến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Web (HTTP/HTTPS), Email (SMTP), Chuyển file (FTP), Đăng nhập từ xa (SSH).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Livestream, Chơi game online, Voice/Video call (VoIP), Truy vấn tên miền (DNS).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228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Độ tin cậy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Rất cao: Có cơ chế kiểm tra lỗi, tự động gửi lại các gói tin bị mất và sắp xếp đúng thứ tự.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Thấp: Không đảm bảo dữ liệu sẽ đến đích, không gửi lại gói tin bị mất, thứ tự gói tin có thể bị đảo lộn.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2249938" y="541687"/>
            <a:ext cx="13999670" cy="112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GIAO THỨC TCP/UDP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5731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34833" y="1335056"/>
            <a:ext cx="7307190" cy="8432820"/>
            <a:chOff x="0" y="0"/>
            <a:chExt cx="1132075" cy="13064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2075" cy="1306464"/>
            </a:xfrm>
            <a:custGeom>
              <a:avLst/>
              <a:gdLst/>
              <a:ahLst/>
              <a:cxnLst/>
              <a:rect l="l" t="t" r="r" b="b"/>
              <a:pathLst>
                <a:path w="1132075" h="1306464">
                  <a:moveTo>
                    <a:pt x="24368" y="0"/>
                  </a:moveTo>
                  <a:lnTo>
                    <a:pt x="1107707" y="0"/>
                  </a:lnTo>
                  <a:cubicBezTo>
                    <a:pt x="1114169" y="0"/>
                    <a:pt x="1120368" y="2567"/>
                    <a:pt x="1124938" y="7137"/>
                  </a:cubicBezTo>
                  <a:cubicBezTo>
                    <a:pt x="1129508" y="11707"/>
                    <a:pt x="1132075" y="17905"/>
                    <a:pt x="1132075" y="24368"/>
                  </a:cubicBezTo>
                  <a:lnTo>
                    <a:pt x="1132075" y="1282096"/>
                  </a:lnTo>
                  <a:cubicBezTo>
                    <a:pt x="1132075" y="1295554"/>
                    <a:pt x="1121165" y="1306464"/>
                    <a:pt x="1107707" y="1306464"/>
                  </a:cubicBezTo>
                  <a:lnTo>
                    <a:pt x="24368" y="1306464"/>
                  </a:lnTo>
                  <a:cubicBezTo>
                    <a:pt x="17905" y="1306464"/>
                    <a:pt x="11707" y="1303897"/>
                    <a:pt x="7137" y="1299327"/>
                  </a:cubicBezTo>
                  <a:cubicBezTo>
                    <a:pt x="2567" y="1294757"/>
                    <a:pt x="0" y="1288559"/>
                    <a:pt x="0" y="1282096"/>
                  </a:cubicBezTo>
                  <a:lnTo>
                    <a:pt x="0" y="24368"/>
                  </a:lnTo>
                  <a:cubicBezTo>
                    <a:pt x="0" y="17905"/>
                    <a:pt x="2567" y="11707"/>
                    <a:pt x="7137" y="7137"/>
                  </a:cubicBezTo>
                  <a:cubicBezTo>
                    <a:pt x="11707" y="2567"/>
                    <a:pt x="17905" y="0"/>
                    <a:pt x="24368" y="0"/>
                  </a:cubicBezTo>
                  <a:close/>
                </a:path>
              </a:pathLst>
            </a:custGeom>
            <a:blipFill>
              <a:blip r:embed="rId6"/>
              <a:stretch>
                <a:fillRect t="-173" b="-17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069104" y="459273"/>
            <a:ext cx="7665703" cy="103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THƯ VIỆN SOCKET (PYTHON)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5601" y="2070127"/>
            <a:ext cx="7838399" cy="7121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3822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Định nghĩa: 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Là một điểm giao tiếp cuối (endpoint) cho phép truyền nhận dữ liệu hai chiều giữa hai chương trình chạy trên mạng.</a:t>
            </a:r>
          </a:p>
          <a:p>
            <a:pPr algn="just">
              <a:lnSpc>
                <a:spcPts val="3822"/>
              </a:lnSpc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61341" lvl="1" indent="-280670" algn="just">
              <a:lnSpc>
                <a:spcPts val="3822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Định danh: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Một Socket được xác định duy nhất thông qua cặp: Địa chỉ IP + Số hiệu cổng (Port).</a:t>
            </a:r>
          </a:p>
          <a:p>
            <a:pPr algn="just">
              <a:lnSpc>
                <a:spcPts val="3822"/>
              </a:lnSpc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just">
              <a:lnSpc>
                <a:spcPts val="3822"/>
              </a:lnSpc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Cấu hình kết nối chính (TCP)</a:t>
            </a:r>
          </a:p>
          <a:p>
            <a:pPr marL="561341" lvl="1" indent="-280670" algn="just">
              <a:lnSpc>
                <a:spcPts val="3822"/>
              </a:lnSpc>
              <a:buAutoNum type="arabicPeriod"/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Server: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Thực hiện bind tại địa chỉ 0.0.0.0:8000 (cho phép mọi giao diện mạng truy cập) và bắt đầu lắng nghe.</a:t>
            </a:r>
          </a:p>
          <a:p>
            <a:pPr marL="561341" lvl="1" indent="-280670" algn="just">
              <a:lnSpc>
                <a:spcPts val="3822"/>
              </a:lnSpc>
              <a:buAutoNum type="arabicPeriod"/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Client: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Thực hiện connect trực tiếp tới IP của Server tại cổng 8000.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5731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780581" y="5291851"/>
            <a:ext cx="9273482" cy="4558233"/>
            <a:chOff x="0" y="0"/>
            <a:chExt cx="1583283" cy="7782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3283" cy="778238"/>
            </a:xfrm>
            <a:custGeom>
              <a:avLst/>
              <a:gdLst/>
              <a:ahLst/>
              <a:cxnLst/>
              <a:rect l="l" t="t" r="r" b="b"/>
              <a:pathLst>
                <a:path w="1583283" h="778238">
                  <a:moveTo>
                    <a:pt x="19201" y="0"/>
                  </a:moveTo>
                  <a:lnTo>
                    <a:pt x="1564082" y="0"/>
                  </a:lnTo>
                  <a:cubicBezTo>
                    <a:pt x="1569174" y="0"/>
                    <a:pt x="1574058" y="2023"/>
                    <a:pt x="1577659" y="5624"/>
                  </a:cubicBezTo>
                  <a:cubicBezTo>
                    <a:pt x="1581260" y="9225"/>
                    <a:pt x="1583283" y="14109"/>
                    <a:pt x="1583283" y="19201"/>
                  </a:cubicBezTo>
                  <a:lnTo>
                    <a:pt x="1583283" y="759036"/>
                  </a:lnTo>
                  <a:cubicBezTo>
                    <a:pt x="1583283" y="764129"/>
                    <a:pt x="1581260" y="769013"/>
                    <a:pt x="1577659" y="772614"/>
                  </a:cubicBezTo>
                  <a:cubicBezTo>
                    <a:pt x="1574058" y="776215"/>
                    <a:pt x="1569174" y="778238"/>
                    <a:pt x="1564082" y="778238"/>
                  </a:cubicBezTo>
                  <a:lnTo>
                    <a:pt x="19201" y="778238"/>
                  </a:lnTo>
                  <a:cubicBezTo>
                    <a:pt x="14109" y="778238"/>
                    <a:pt x="9225" y="776215"/>
                    <a:pt x="5624" y="772614"/>
                  </a:cubicBezTo>
                  <a:cubicBezTo>
                    <a:pt x="2023" y="769013"/>
                    <a:pt x="0" y="764129"/>
                    <a:pt x="0" y="759036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blipFill>
              <a:blip r:embed="rId6"/>
              <a:stretch>
                <a:fillRect l="-859" r="-85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035353" y="449287"/>
            <a:ext cx="10367937" cy="103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XỬ LÝ ĐA LUỒNG (MULTI-THREADING)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5601" y="2070127"/>
            <a:ext cx="16432198" cy="473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2"/>
              </a:lnSpc>
            </a:pPr>
            <a:endParaRPr/>
          </a:p>
          <a:p>
            <a:pPr marL="561341" lvl="1" indent="-280670" algn="just">
              <a:lnSpc>
                <a:spcPts val="3822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Vấn đề (Blocking):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Theo mặc định, Server xử lý tuần tự. Nếu một Client đang gửi dữ liệu lớn, các Client khác phải chờ đợi (nghẽn cổ chai).</a:t>
            </a:r>
          </a:p>
          <a:p>
            <a:pPr algn="just">
              <a:lnSpc>
                <a:spcPts val="3822"/>
              </a:lnSpc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61341" lvl="1" indent="-280670" algn="just">
              <a:lnSpc>
                <a:spcPts val="3822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Giải pháp: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Sử dụng Multi-threading để Server có thể phục vụ nhiều yêu cầu cùng một lúc.</a:t>
            </a:r>
          </a:p>
          <a:p>
            <a:pPr algn="just">
              <a:lnSpc>
                <a:spcPts val="3822"/>
              </a:lnSpc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just">
              <a:lnSpc>
                <a:spcPts val="3822"/>
              </a:lnSpc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just">
              <a:lnSpc>
                <a:spcPts val="3822"/>
              </a:lnSpc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just">
              <a:lnSpc>
                <a:spcPts val="3822"/>
              </a:lnSpc>
            </a:pPr>
            <a:endParaRPr lang="en-US"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5731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601214" y="4328459"/>
          <a:ext cx="15085572" cy="5341320"/>
        </p:xfrm>
        <a:graphic>
          <a:graphicData uri="http://schemas.openxmlformats.org/drawingml/2006/table">
            <a:tbl>
              <a:tblPr/>
              <a:tblGrid>
                <a:gridCol w="3265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3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0220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Row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220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INTEGER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Khóa chính, tự động tăng.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220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Tên người gửi tin nhắn.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0220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content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Nội dung tin nhắn.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0220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timestamp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Thời gian gửi (YYYY-MM-DD HH:MM:SS).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0220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receiver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 nếu là Chat Public; tên người nhận nếu là Chat Private.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035353" y="449287"/>
            <a:ext cx="11620475" cy="103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CƠ SỞ DỮ LIỆU - SQLITE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9625" y="1732519"/>
            <a:ext cx="16103339" cy="265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3"/>
              </a:lnSpc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SQLite — Lưu trữ lịch sử chat</a:t>
            </a:r>
          </a:p>
          <a:p>
            <a:pPr marL="496828" lvl="1" indent="-248414" algn="just">
              <a:lnSpc>
                <a:spcPts val="3543"/>
              </a:lnSpc>
              <a:buFont typeface="Arial"/>
              <a:buChar char="•"/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Database:</a:t>
            </a: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chat_history.db (Nhẹ, không cần cài đặt server riêng).</a:t>
            </a:r>
          </a:p>
          <a:p>
            <a:pPr marL="496828" lvl="1" indent="-248414" algn="just">
              <a:lnSpc>
                <a:spcPts val="3543"/>
              </a:lnSpc>
              <a:buFont typeface="Arial"/>
              <a:buChar char="•"/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Chức năng:</a:t>
            </a: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Lưu trữ toàn bộ hội thoại để người dùng xem lại khi tham gia phòng chat.</a:t>
            </a:r>
          </a:p>
          <a:p>
            <a:pPr marL="496828" lvl="1" indent="-248414" algn="just">
              <a:lnSpc>
                <a:spcPts val="3543"/>
              </a:lnSpc>
              <a:buFont typeface="Arial"/>
              <a:buChar char="•"/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Cơ chế:</a:t>
            </a: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Khi một Client mới tham gia (JOIN), Server sẽ truy vấn và gửi 50 tin nhắn gần nhất từ cơ chế này.</a:t>
            </a:r>
          </a:p>
          <a:p>
            <a:pPr algn="just">
              <a:lnSpc>
                <a:spcPts val="3543"/>
              </a:lnSpc>
            </a:pPr>
            <a:endParaRPr lang="en-US" sz="2301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5731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70686" y="2909414"/>
          <a:ext cx="15085572" cy="4457450"/>
        </p:xfrm>
        <a:graphic>
          <a:graphicData uri="http://schemas.openxmlformats.org/drawingml/2006/table">
            <a:tbl>
              <a:tblPr/>
              <a:tblGrid>
                <a:gridCol w="767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1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490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Message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490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LOGIN / LOGIN_SUCCESS / FAIL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Quản lý đăng nhập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490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CHAT / PRIVAT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Phân loại tin nhắn công khai hoặc bí mật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490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JOIN / LEAVE / USER_LIST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Cập nhật trạng thái phòng chat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490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SYSTEM / ERROR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Thông báo từ hệ thống hoặc cảnh báo lỗ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035353" y="449287"/>
            <a:ext cx="11620475" cy="103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THIẾT KẾ PROTOCOL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0686" y="1732519"/>
            <a:ext cx="15442278" cy="86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3"/>
              </a:lnSpc>
            </a:pP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Để Server và Client hiểu nhau, mọi dữ liệu được đóng gói dưới dạng JSON Object truyền qua TCP.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70686" y="7808762"/>
            <a:ext cx="15442278" cy="131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3"/>
              </a:lnSpc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Kỹ thuật Length-prefix framing (Tránh dính gói)</a:t>
            </a: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TCP là một luồng dữ liệu liên tục, đôi khi các gói tin bị "dính" vào nhau. Chúng ta giải quyết bằng cách gửi 4 byte độ dài trước mỗi gói JSON.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95617" cy="11447809"/>
            <a:chOff x="0" y="0"/>
            <a:chExt cx="305274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637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5731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518563" y="1630352"/>
            <a:ext cx="6632051" cy="4660285"/>
            <a:chOff x="0" y="0"/>
            <a:chExt cx="1806900" cy="12696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6900" cy="1269693"/>
            </a:xfrm>
            <a:custGeom>
              <a:avLst/>
              <a:gdLst/>
              <a:ahLst/>
              <a:cxnLst/>
              <a:rect l="l" t="t" r="r" b="b"/>
              <a:pathLst>
                <a:path w="1806900" h="1269693">
                  <a:moveTo>
                    <a:pt x="26849" y="0"/>
                  </a:moveTo>
                  <a:lnTo>
                    <a:pt x="1780051" y="0"/>
                  </a:lnTo>
                  <a:cubicBezTo>
                    <a:pt x="1787172" y="0"/>
                    <a:pt x="1794001" y="2829"/>
                    <a:pt x="1799037" y="7864"/>
                  </a:cubicBezTo>
                  <a:cubicBezTo>
                    <a:pt x="1804072" y="12899"/>
                    <a:pt x="1806900" y="19728"/>
                    <a:pt x="1806900" y="26849"/>
                  </a:cubicBezTo>
                  <a:lnTo>
                    <a:pt x="1806900" y="1242844"/>
                  </a:lnTo>
                  <a:cubicBezTo>
                    <a:pt x="1806900" y="1249965"/>
                    <a:pt x="1804072" y="1256794"/>
                    <a:pt x="1799037" y="1261829"/>
                  </a:cubicBezTo>
                  <a:cubicBezTo>
                    <a:pt x="1794001" y="1266865"/>
                    <a:pt x="1787172" y="1269693"/>
                    <a:pt x="1780051" y="1269693"/>
                  </a:cubicBezTo>
                  <a:lnTo>
                    <a:pt x="26849" y="1269693"/>
                  </a:lnTo>
                  <a:cubicBezTo>
                    <a:pt x="19728" y="1269693"/>
                    <a:pt x="12899" y="1266865"/>
                    <a:pt x="7864" y="1261829"/>
                  </a:cubicBezTo>
                  <a:cubicBezTo>
                    <a:pt x="2829" y="1256794"/>
                    <a:pt x="0" y="1249965"/>
                    <a:pt x="0" y="1242844"/>
                  </a:cubicBezTo>
                  <a:lnTo>
                    <a:pt x="0" y="26849"/>
                  </a:lnTo>
                  <a:cubicBezTo>
                    <a:pt x="0" y="19728"/>
                    <a:pt x="2829" y="12899"/>
                    <a:pt x="7864" y="7864"/>
                  </a:cubicBezTo>
                  <a:cubicBezTo>
                    <a:pt x="12899" y="2829"/>
                    <a:pt x="19728" y="0"/>
                    <a:pt x="26849" y="0"/>
                  </a:cubicBezTo>
                  <a:close/>
                </a:path>
              </a:pathLst>
            </a:custGeom>
            <a:blipFill>
              <a:blip r:embed="rId6"/>
              <a:stretch>
                <a:fillRect l="-192" r="-19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035353" y="449287"/>
            <a:ext cx="10367937" cy="103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THIẾT KẾ SERVER — XỬ LÝ ĐA LUỒNG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855689"/>
            <a:ext cx="8847388" cy="696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Cấu hình &amp; Cơ chế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Địa chỉ: 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Lắng nghe trên 0.0.0.0:8000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Đa luồng: 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Mỗi Client kết nối = 1 Thread riêng (handle_client)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Quản lý: 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Dictionary {addr: {socket, username}} + threading.Lock()</a:t>
            </a:r>
          </a:p>
          <a:p>
            <a:pPr algn="l">
              <a:lnSpc>
                <a:spcPts val="3680"/>
              </a:lnSpc>
            </a:pPr>
            <a:endParaRPr lang="en-US" sz="2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l">
              <a:lnSpc>
                <a:spcPts val="3680"/>
              </a:lnSpc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Luồng xử lý Logic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Kết nối: Nhận LOGIN → Kiểm tra trùng Username.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Khởi tạo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Gửi lịch sử chat (SQLite) + Thông báo JOIN tới toàn bộ phòng.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Vòng lặp nhận tin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</a:p>
          <a:p>
            <a:pPr marL="993144" lvl="2" indent="-331048" algn="l">
              <a:lnSpc>
                <a:spcPts val="3680"/>
              </a:lnSpc>
              <a:buFont typeface="Arial"/>
              <a:buChar char="⚬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CHAT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Lưu DB + Broadcast (tất cả).</a:t>
            </a:r>
          </a:p>
          <a:p>
            <a:pPr marL="993144" lvl="2" indent="-331048" algn="l">
              <a:lnSpc>
                <a:spcPts val="3680"/>
              </a:lnSpc>
              <a:buFont typeface="Arial"/>
              <a:buChar char="⚬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PRIVATE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Lưu DB + Gửi riêng cho người nhận.</a:t>
            </a:r>
          </a:p>
          <a:p>
            <a:pPr marL="993144" lvl="2" indent="-331048" algn="l">
              <a:lnSpc>
                <a:spcPts val="3680"/>
              </a:lnSpc>
              <a:buFont typeface="Arial"/>
              <a:buChar char="⚬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LEAVE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Xóa khỏi danh sách + Thông báo thoát.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85091" y="6643528"/>
            <a:ext cx="6898996" cy="275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Tính năng Auto-discover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UDP Broadcast: P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hát tín hiệu mỗi 2 giây trên port 9999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Mục đích: 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Client tự động tìm thấy IP Server trong mạng LAN mà không cần nhập thủ công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95617" cy="11447809"/>
            <a:chOff x="0" y="0"/>
            <a:chExt cx="305274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637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5731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518563" y="1630352"/>
            <a:ext cx="6632051" cy="4922330"/>
            <a:chOff x="0" y="0"/>
            <a:chExt cx="1806900" cy="13410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6900" cy="1341088"/>
            </a:xfrm>
            <a:custGeom>
              <a:avLst/>
              <a:gdLst/>
              <a:ahLst/>
              <a:cxnLst/>
              <a:rect l="l" t="t" r="r" b="b"/>
              <a:pathLst>
                <a:path w="1806900" h="1341088">
                  <a:moveTo>
                    <a:pt x="26849" y="0"/>
                  </a:moveTo>
                  <a:lnTo>
                    <a:pt x="1780051" y="0"/>
                  </a:lnTo>
                  <a:cubicBezTo>
                    <a:pt x="1787172" y="0"/>
                    <a:pt x="1794001" y="2829"/>
                    <a:pt x="1799037" y="7864"/>
                  </a:cubicBezTo>
                  <a:cubicBezTo>
                    <a:pt x="1804072" y="12899"/>
                    <a:pt x="1806900" y="19728"/>
                    <a:pt x="1806900" y="26849"/>
                  </a:cubicBezTo>
                  <a:lnTo>
                    <a:pt x="1806900" y="1314238"/>
                  </a:lnTo>
                  <a:cubicBezTo>
                    <a:pt x="1806900" y="1321359"/>
                    <a:pt x="1804072" y="1328188"/>
                    <a:pt x="1799037" y="1333224"/>
                  </a:cubicBezTo>
                  <a:cubicBezTo>
                    <a:pt x="1794001" y="1338259"/>
                    <a:pt x="1787172" y="1341088"/>
                    <a:pt x="1780051" y="1341088"/>
                  </a:cubicBezTo>
                  <a:lnTo>
                    <a:pt x="26849" y="1341088"/>
                  </a:lnTo>
                  <a:cubicBezTo>
                    <a:pt x="12021" y="1341088"/>
                    <a:pt x="0" y="1329067"/>
                    <a:pt x="0" y="1314238"/>
                  </a:cubicBezTo>
                  <a:lnTo>
                    <a:pt x="0" y="26849"/>
                  </a:lnTo>
                  <a:cubicBezTo>
                    <a:pt x="0" y="19728"/>
                    <a:pt x="2829" y="12899"/>
                    <a:pt x="7864" y="7864"/>
                  </a:cubicBezTo>
                  <a:cubicBezTo>
                    <a:pt x="12899" y="2829"/>
                    <a:pt x="19728" y="0"/>
                    <a:pt x="26849" y="0"/>
                  </a:cubicBezTo>
                  <a:close/>
                </a:path>
              </a:pathLst>
            </a:custGeom>
            <a:blipFill>
              <a:blip r:embed="rId6"/>
              <a:stretch>
                <a:fillRect l="-173" r="-17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035353" y="449287"/>
            <a:ext cx="10367937" cy="103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THIẾT KẾ CLIENT - LUỒNG GỬI &amp; NHẬN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3904" y="1554152"/>
            <a:ext cx="9481813" cy="836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Cấu trúc Module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prototype_client.py: 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Xử lý logic kết nối và giao thức.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gui.py: 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Xử lý giao diện người dùng (CustomTkinter)</a:t>
            </a: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.</a:t>
            </a:r>
          </a:p>
          <a:p>
            <a:pPr algn="l">
              <a:lnSpc>
                <a:spcPts val="3680"/>
              </a:lnSpc>
            </a:pPr>
            <a:endParaRPr lang="en-US" sz="2300" b="1">
              <a:solidFill>
                <a:srgbClr val="000000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3680"/>
              </a:lnSpc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Kiến trúc Hai luồng (Dual-Thread)</a:t>
            </a:r>
          </a:p>
          <a:p>
            <a:pPr algn="just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Để đảm bảo ứng dụng không bị "treo" (Not Responding) khi đợi tin nhắn, Client hoạt động với 2 luồng song song: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Luồng chính (GUI Thread):</a:t>
            </a:r>
          </a:p>
          <a:p>
            <a:pPr marL="993144" lvl="2" indent="-331048" algn="l">
              <a:lnSpc>
                <a:spcPts val="368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Hiển thị giao diện, tiếp nhận thao tác từ người dùng.</a:t>
            </a:r>
          </a:p>
          <a:p>
            <a:pPr marL="993144" lvl="2" indent="-331048" algn="l">
              <a:lnSpc>
                <a:spcPts val="368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Gửi dữ liệu tới Server.</a:t>
            </a:r>
          </a:p>
          <a:p>
            <a:pPr marL="993144" lvl="2" indent="-331048" algn="l">
              <a:lnSpc>
                <a:spcPts val="368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Quét msg_queue để cập nhật tin nhắn lên màn hình.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Luồng phụ (Receive Thread):</a:t>
            </a:r>
          </a:p>
          <a:p>
            <a:pPr marL="993144" lvl="2" indent="-331048" algn="l">
              <a:lnSpc>
                <a:spcPts val="368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Chạy vòng lặp nhận tin từ Server 24/7.</a:t>
            </a:r>
          </a:p>
          <a:p>
            <a:pPr marL="993144" lvl="2" indent="-331048" algn="l">
              <a:lnSpc>
                <a:spcPts val="368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Đẩy tin nhắn nhận được vào hàng đợi msg_queue.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9923" y="6893346"/>
            <a:ext cx="7547213" cy="275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Cơ chế đồng bộ (Queue &amp; Polling)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msg_queue: 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"Hộp thư" trung gian giúp 2 luồng trao đổi dữ liệu an toàn.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Tần suất cập nhật: </a:t>
            </a:r>
            <a:r>
              <a:rPr lang="en-US" sz="2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GUI tự động kiểm tra hàng đợi mỗi 100ms thông qua hàm self.after(100, self.update_messages).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09625" y="5731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9625" y="5169217"/>
            <a:ext cx="7870176" cy="4871367"/>
            <a:chOff x="0" y="0"/>
            <a:chExt cx="1343694" cy="831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3694" cy="831700"/>
            </a:xfrm>
            <a:custGeom>
              <a:avLst/>
              <a:gdLst/>
              <a:ahLst/>
              <a:cxnLst/>
              <a:rect l="l" t="t" r="r" b="b"/>
              <a:pathLst>
                <a:path w="1343694" h="831700">
                  <a:moveTo>
                    <a:pt x="22625" y="0"/>
                  </a:moveTo>
                  <a:lnTo>
                    <a:pt x="1321068" y="0"/>
                  </a:lnTo>
                  <a:cubicBezTo>
                    <a:pt x="1333564" y="0"/>
                    <a:pt x="1343694" y="10130"/>
                    <a:pt x="1343694" y="22625"/>
                  </a:cubicBezTo>
                  <a:lnTo>
                    <a:pt x="1343694" y="809075"/>
                  </a:lnTo>
                  <a:cubicBezTo>
                    <a:pt x="1343694" y="815075"/>
                    <a:pt x="1341310" y="820830"/>
                    <a:pt x="1337067" y="825073"/>
                  </a:cubicBezTo>
                  <a:cubicBezTo>
                    <a:pt x="1332824" y="829316"/>
                    <a:pt x="1327069" y="831700"/>
                    <a:pt x="1321068" y="831700"/>
                  </a:cubicBezTo>
                  <a:lnTo>
                    <a:pt x="22625" y="831700"/>
                  </a:lnTo>
                  <a:cubicBezTo>
                    <a:pt x="10130" y="831700"/>
                    <a:pt x="0" y="821570"/>
                    <a:pt x="0" y="809075"/>
                  </a:cubicBezTo>
                  <a:lnTo>
                    <a:pt x="0" y="22625"/>
                  </a:lnTo>
                  <a:cubicBezTo>
                    <a:pt x="0" y="10130"/>
                    <a:pt x="10130" y="0"/>
                    <a:pt x="22625" y="0"/>
                  </a:cubicBezTo>
                  <a:close/>
                </a:path>
              </a:pathLst>
            </a:custGeom>
            <a:blipFill>
              <a:blip r:embed="rId6"/>
              <a:stretch>
                <a:fillRect t="-1194" b="-119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763245" y="5169217"/>
            <a:ext cx="7870176" cy="4871367"/>
            <a:chOff x="0" y="0"/>
            <a:chExt cx="1343694" cy="831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3694" cy="831700"/>
            </a:xfrm>
            <a:custGeom>
              <a:avLst/>
              <a:gdLst/>
              <a:ahLst/>
              <a:cxnLst/>
              <a:rect l="l" t="t" r="r" b="b"/>
              <a:pathLst>
                <a:path w="1343694" h="831700">
                  <a:moveTo>
                    <a:pt x="22625" y="0"/>
                  </a:moveTo>
                  <a:lnTo>
                    <a:pt x="1321068" y="0"/>
                  </a:lnTo>
                  <a:cubicBezTo>
                    <a:pt x="1333564" y="0"/>
                    <a:pt x="1343694" y="10130"/>
                    <a:pt x="1343694" y="22625"/>
                  </a:cubicBezTo>
                  <a:lnTo>
                    <a:pt x="1343694" y="809075"/>
                  </a:lnTo>
                  <a:cubicBezTo>
                    <a:pt x="1343694" y="815075"/>
                    <a:pt x="1341310" y="820830"/>
                    <a:pt x="1337067" y="825073"/>
                  </a:cubicBezTo>
                  <a:cubicBezTo>
                    <a:pt x="1332824" y="829316"/>
                    <a:pt x="1327069" y="831700"/>
                    <a:pt x="1321068" y="831700"/>
                  </a:cubicBezTo>
                  <a:lnTo>
                    <a:pt x="22625" y="831700"/>
                  </a:lnTo>
                  <a:cubicBezTo>
                    <a:pt x="10130" y="831700"/>
                    <a:pt x="0" y="821570"/>
                    <a:pt x="0" y="809075"/>
                  </a:cubicBezTo>
                  <a:lnTo>
                    <a:pt x="0" y="22625"/>
                  </a:lnTo>
                  <a:cubicBezTo>
                    <a:pt x="0" y="10130"/>
                    <a:pt x="10130" y="0"/>
                    <a:pt x="22625" y="0"/>
                  </a:cubicBezTo>
                  <a:close/>
                </a:path>
              </a:pathLst>
            </a:custGeom>
            <a:blipFill>
              <a:blip r:embed="rId7"/>
              <a:stretch>
                <a:fillRect t="-1194" b="-119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035353" y="449287"/>
            <a:ext cx="11620475" cy="103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GIAO DIỆN NGƯỜI DÙNG — CUSTOMTKINTER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4166" y="1773530"/>
            <a:ext cx="16439669" cy="278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1"/>
              </a:lnSpc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TỔNG QUAN &amp; TÍNH NĂNG</a:t>
            </a:r>
          </a:p>
          <a:p>
            <a:pPr marL="496828" lvl="1" indent="-248414" algn="just">
              <a:lnSpc>
                <a:spcPts val="3221"/>
              </a:lnSpc>
              <a:buFont typeface="Arial"/>
              <a:buChar char="•"/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CustomTkinter</a:t>
            </a: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— Thư viện GUI hiện đại cho Python</a:t>
            </a:r>
          </a:p>
          <a:p>
            <a:pPr marL="993656" lvl="2" indent="-331219" algn="l">
              <a:lnSpc>
                <a:spcPts val="3221"/>
              </a:lnSpc>
              <a:buFont typeface="Arial"/>
              <a:buChar char="⚬"/>
            </a:pP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Bản nâng cấp toàn diện từ Tkinter gốc.</a:t>
            </a:r>
          </a:p>
          <a:p>
            <a:pPr marL="993656" lvl="2" indent="-331219" algn="l">
              <a:lnSpc>
                <a:spcPts val="3221"/>
              </a:lnSpc>
              <a:buFont typeface="Arial"/>
              <a:buChar char="⚬"/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Dark Mode</a:t>
            </a: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Tự động điều chỉnh theo hệ thống.</a:t>
            </a:r>
          </a:p>
          <a:p>
            <a:pPr marL="993656" lvl="2" indent="-331219" algn="l">
              <a:lnSpc>
                <a:spcPts val="3221"/>
              </a:lnSpc>
              <a:buFont typeface="Arial"/>
              <a:buChar char="⚬"/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Thiết kế</a:t>
            </a: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Widget bo góc, hiệu ứng hover, chuẩn UI/UX hiện đại.</a:t>
            </a:r>
          </a:p>
          <a:p>
            <a:pPr marL="993656" lvl="2" indent="-331219" algn="l">
              <a:lnSpc>
                <a:spcPts val="3221"/>
              </a:lnSpc>
              <a:buFont typeface="Arial"/>
              <a:buChar char="⚬"/>
            </a:pPr>
            <a:r>
              <a:rPr lang="en-US" sz="2301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Cài đặt</a:t>
            </a:r>
            <a:r>
              <a:rPr lang="en-US" sz="230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pip install customtkinter</a:t>
            </a:r>
          </a:p>
          <a:p>
            <a:pPr algn="just">
              <a:lnSpc>
                <a:spcPts val="3221"/>
              </a:lnSpc>
            </a:pPr>
            <a:endParaRPr lang="en-US" sz="2301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379908" y="4712365"/>
            <a:ext cx="2729609" cy="29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1"/>
              </a:lnSpc>
            </a:pPr>
            <a:r>
              <a:rPr lang="en-US" sz="1875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Màn hình đăng nhập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33528" y="4712365"/>
            <a:ext cx="2729609" cy="29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1"/>
              </a:lnSpc>
            </a:pPr>
            <a:r>
              <a:rPr lang="en-US" sz="1875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Màn hình chat chung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519790" y="4112174"/>
            <a:ext cx="12232773" cy="1557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48"/>
              </a:lnSpc>
              <a:spcBef>
                <a:spcPct val="0"/>
              </a:spcBef>
            </a:pPr>
            <a:r>
              <a:rPr lang="en-US" sz="11632" u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THANK FOR WATCHING</a:t>
            </a:r>
          </a:p>
        </p:txBody>
      </p:sp>
      <p:sp>
        <p:nvSpPr>
          <p:cNvPr id="6" name="Freeform 6"/>
          <p:cNvSpPr/>
          <p:nvPr/>
        </p:nvSpPr>
        <p:spPr>
          <a:xfrm>
            <a:off x="8282303" y="1884053"/>
            <a:ext cx="1723393" cy="1472718"/>
          </a:xfrm>
          <a:custGeom>
            <a:avLst/>
            <a:gdLst/>
            <a:ahLst/>
            <a:cxnLst/>
            <a:rect l="l" t="t" r="r" b="b"/>
            <a:pathLst>
              <a:path w="1723393" h="1472718">
                <a:moveTo>
                  <a:pt x="0" y="0"/>
                </a:moveTo>
                <a:lnTo>
                  <a:pt x="1723394" y="0"/>
                </a:lnTo>
                <a:lnTo>
                  <a:pt x="1723394" y="1472717"/>
                </a:lnTo>
                <a:lnTo>
                  <a:pt x="0" y="1472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58180" y="4608658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575306" y="4608658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23112" y="8496179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75306" y="1706796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689417" y="7409022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485193" y="1352282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Office PowerPoint</Application>
  <PresentationFormat>Custom</PresentationFormat>
  <Paragraphs>162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Courier Prime</vt:lpstr>
      <vt:lpstr>Calibri</vt:lpstr>
      <vt:lpstr>Roboto Mono</vt:lpstr>
      <vt:lpstr>Noto Sans Bold</vt:lpstr>
      <vt:lpstr>Anton</vt:lpstr>
      <vt:lpstr>Roboto Mono Medium</vt:lpstr>
      <vt:lpstr>Roboto Mono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Report Presentation</dc:title>
  <cp:lastModifiedBy>PC</cp:lastModifiedBy>
  <cp:revision>2</cp:revision>
  <dcterms:created xsi:type="dcterms:W3CDTF">2006-08-16T00:00:00Z</dcterms:created>
  <dcterms:modified xsi:type="dcterms:W3CDTF">2026-04-16T18:52:54Z</dcterms:modified>
  <dc:identifier>DAHGWuooLts</dc:identifier>
</cp:coreProperties>
</file>